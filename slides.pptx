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Holdout RMSE (millions of views)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before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SARIMA</c:v>
                  </c:pt>
                  <c:pt idx="1">
                    <c:v>Prophet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12.65</c:v>
                </c:pt>
                <c:pt idx="1">
                  <c:v>38.11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 after</c:v>
                </c:pt>
              </c:strCache>
            </c:strRef>
          </c:tx>
          <c:spPr>
            <a:solidFill>
              <a:srgbClr val="7C9B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SARIMA</c:v>
                  </c:pt>
                  <c:pt idx="1">
                    <c:v>Prophet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16.06</c:v>
                </c:pt>
                <c:pt idx="1">
                  <c:v>22.16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47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Traffic Time Series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194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&amp; Anomaly Detection on 145,063 Wikipedia Pages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Kaggle Web Traffic Time Series Forecasting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page views · 2015-07-01 → 2017-09-10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Analysis — Group Project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[Member 1] · [Member 2] · [Member 3] · [Member 4]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145k noisy page-level series to one clean aggregate signal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47672" cy="96012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4358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145,063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700784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pages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87752" y="1143000"/>
            <a:ext cx="1947672" cy="96012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87752" y="124358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87752" y="1700784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(Jul 2015 – Sep 2017)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18304" y="1143000"/>
            <a:ext cx="1947672" cy="96012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18304" y="124358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185.5M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18304" y="1700784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daily views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48856" y="1143000"/>
            <a:ext cx="1947672" cy="96012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48856" y="124358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316.9M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48856" y="1700784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all-time daily peak</a:t>
            </a:r>
            <a:endParaRPr lang="en-US" sz="1100" dirty="0"/>
          </a:p>
        </p:txBody>
      </p:sp>
      <p:pic>
        <p:nvPicPr>
          <p:cNvPr id="16" name="Image 0" descr="/sessions/relaxed-magical-maxwell/mnt/outputs/figs/01_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6309360" cy="210312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03720" y="2331720"/>
            <a:ext cx="182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aggregate?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pages are sparse and noisy. Summing all pages gives one dense series with strong structure — ideal for SARIMA, Prophet and decomposition.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Page-level gaps exist, but the aggregate has zero missing days (missing pages contribute 0).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Stationarity &amp; Correlation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test and ACF/PACF drive the model choice</a:t>
            </a:r>
            <a:endParaRPr lang="en-US" sz="1300" dirty="0"/>
          </a:p>
        </p:txBody>
      </p:sp>
      <p:pic>
        <p:nvPicPr>
          <p:cNvPr id="4" name="Image 0" descr="/sessions/relaxed-magical-maxwell/mnt/outputs/figs/02_acf_pac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1188720"/>
            <a:ext cx="2377440" cy="1463040"/>
          </a:xfrm>
          <a:prstGeom prst="roundRect">
            <a:avLst>
              <a:gd name="adj" fmla="val 4375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92240" y="1298448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test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 p = 0.082  → non-stationary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Δ1:   p = 2.2e-6 → stationary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difference once (d = 1)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355080" y="2834640"/>
            <a:ext cx="2377440" cy="16916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2944368"/>
            <a:ext cx="2148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ACF/PACF reading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ACF spikes at lags 7, 14, 21 → weekly seasonality (m = 7)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 seasonal ARIMA (SARIMA) is required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Decomposition — Classical &amp; STL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STL keeps outliers in the residual, where anomaly detection can find them</a:t>
            </a:r>
            <a:endParaRPr lang="en-US" sz="1300" dirty="0"/>
          </a:p>
        </p:txBody>
      </p:sp>
      <p:pic>
        <p:nvPicPr>
          <p:cNvPr id="4" name="Image 0" descr="/sessions/relaxed-magical-maxwell/mnt/outputs/figs/03_decomp_s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394960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234440"/>
            <a:ext cx="2743200" cy="1024128"/>
          </a:xfrm>
          <a:prstGeom prst="roundRect">
            <a:avLst>
              <a:gd name="adj" fmla="val 6250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172200" y="1307592"/>
            <a:ext cx="24871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(strength 0.90)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from ~150M to an early-2017 plateau near 190M; visible mid-2016 surge.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0" y="2404872"/>
            <a:ext cx="2743200" cy="1024128"/>
          </a:xfrm>
          <a:prstGeom prst="roundRect">
            <a:avLst>
              <a:gd name="adj" fmla="val 6250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172200" y="2478024"/>
            <a:ext cx="24871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(strength 0.37)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weekly cycle: Monday peak (+11M), Friday trough (−10M) — workweek browsing.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3575304"/>
            <a:ext cx="2743200" cy="1024128"/>
          </a:xfrm>
          <a:prstGeom prst="roundRect">
            <a:avLst>
              <a:gd name="adj" fmla="val 6250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172200" y="3648456"/>
            <a:ext cx="24871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(σ ≈ 10M)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noise, plus large isolated spikes — real-world events, hunted in the anomaly step.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Forecast — SARIMA vs Prophet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holdout (2017-07-13 → 2017-09-10) · SARIMA order chosen by AIC grid search</a:t>
            </a:r>
            <a:endParaRPr lang="en-US" sz="1300" dirty="0"/>
          </a:p>
        </p:txBody>
      </p:sp>
      <p:pic>
        <p:nvPicPr>
          <p:cNvPr id="4" name="Image 0" descr="/sessions/relaxed-magical-maxwell/mnt/outputs/figs/04_forecast_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172200" cy="2606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1188720"/>
            <a:ext cx="1965960" cy="2606040"/>
          </a:xfrm>
          <a:prstGeom prst="roundRect">
            <a:avLst>
              <a:gd name="adj" fmla="val 325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949440" y="1371600"/>
            <a:ext cx="1691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(1,1,2)(0,1,1)₇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 5316.9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 5339.9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6172200" cy="822960"/>
        </p:xfrm>
        <a:graphic>
          <a:graphicData uri="http://schemas.openxmlformats.org/drawingml/2006/table">
            <a:tbl>
              <a:tblPr/>
              <a:tblGrid>
                <a:gridCol w="2194560"/>
                <a:gridCol w="1325880"/>
                <a:gridCol w="1325880"/>
                <a:gridCol w="1325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Rel. error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SARIMA(1,1,2)(0,1,1)₇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12280" y="3977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extrapolates a yearly cycle distorted by the anomalous 2016 regime; SARIMA's differencing anchors it to the recent level.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 — Four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statistical, one machine-learning, one deep-learning · combined by consensus vote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5087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362456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Z-score   </a:t>
            </a:r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MAD-based z on STL residuals, |z| &gt; 3.5. Most sensitive: 99 flags.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73752" y="15087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806440" y="1362456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 residuals   </a:t>
            </a:r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1-step forecast errors, |z| &gt; 3. Precise: 13 flags.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15768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99008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  </a:t>
            </a:r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on [level, Δ1, Δ7, residual, weekday], 2% contamination.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2715768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73752" y="299008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806440" y="2843784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Autoencoder   </a:t>
            </a:r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error on 14-day windows, &gt; μ + 3σ. 8 flags.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rule: keep days flagged by ≥ 2 of 4 methods  →  20 anomalous days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Anomalies Map to Real-World Events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 consensus anomalies are explainable, not statistical artefacts</a:t>
            </a:r>
            <a:endParaRPr lang="en-US" sz="1300" dirty="0"/>
          </a:p>
        </p:txBody>
      </p:sp>
      <p:pic>
        <p:nvPicPr>
          <p:cNvPr id="4" name="Image 0" descr="/sessions/relaxed-magical-maxwell/mnt/outputs/figs/05_anomal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074920" cy="34290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188720"/>
          <a:ext cx="3063240" cy="237744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</a:tblGrid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11–12, 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Death of David Bowie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29, 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Leap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 – Aug 17, 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Munich attack · DNC · Rio Olympics (all-time peak 317M)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9–10, 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election result (302M)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6 / Feb 27, 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 Bowl LI / Oscars mix-up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715000" y="39776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spikes inflate variance, widen prediction intervals, and drag the trend / yearly-seasonality estimates of global-fit models.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the Series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Seasonality-aware imputation — replace, don't delete</a:t>
            </a:r>
            <a:endParaRPr lang="en-US" sz="1300" dirty="0"/>
          </a:p>
        </p:txBody>
      </p:sp>
      <p:pic>
        <p:nvPicPr>
          <p:cNvPr id="4" name="Image 0" descr="/sessions/relaxed-magical-maxwell/mnt/outputs/figs/07_clea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12648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188720"/>
            <a:ext cx="2011680" cy="2240280"/>
          </a:xfrm>
          <a:prstGeom prst="roundRect">
            <a:avLst>
              <a:gd name="adj" fmla="val 3182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903720" y="13258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anomalous day is replaced by the median of the same weekday within ±4 weeks.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preserves the weekly cycle and the local trend level.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703320"/>
            <a:ext cx="8321040" cy="1005840"/>
          </a:xfrm>
          <a:prstGeom prst="roundRect">
            <a:avLst>
              <a:gd name="adj" fmla="val 636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3840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evaluation: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are re-trained on the cleaned history, but always scored against the original, uncleaned test data — the real future is what we must predict. All 20 anomalies fall before the forecast origin.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Re-Forecast: Before vs After Cleaning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rescues Prophet; SARIMA never needed it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234440"/>
            <a:ext cx="3108960" cy="1463040"/>
          </a:xfrm>
          <a:prstGeom prst="roundRect">
            <a:avLst>
              <a:gd name="adj" fmla="val 4375"/>
            </a:avLst>
          </a:prstGeom>
          <a:solidFill>
            <a:srgbClr val="EAF7EE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833872" y="137160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Prophet:  −42% RMSE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38.11 → 22.16  (MAE 32.4 → 17.8). Trend &amp; yearly seasonality no longer distorted by the 2016 spikes.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669280" y="2880360"/>
            <a:ext cx="3108960" cy="1554480"/>
          </a:xfrm>
          <a:prstGeom prst="roundRect">
            <a:avLst>
              <a:gd name="adj" fmla="val 4118"/>
            </a:avLst>
          </a:prstGeom>
          <a:solidFill>
            <a:srgbClr val="EEF3FC"/>
          </a:solidFill>
          <a:ln/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833872" y="301752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SARIMA:  slightly worse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12.65 → 16.06. SARIMA was already robust — imputing spikes it had absorbed altered the variance structure, so cleaning was unnecessary here.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&amp; Recommendations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612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61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1051560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 is the right operational model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 (≈7% relative error), robust to anomalies, interpretable orders backed by ACF/PACF and AIC.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212140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21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2011680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handling matters most for global curve-fitters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improved 42% after cleaning; SARIMA got slightly worse. Clean the history for global curve-fitters, not for differencing models.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30815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971800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consensus voting for anomaly detection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methods are noisy (z-score: 99 flags) — agreement of ≥2 of 4 methods yields 20 precise, fully explainable events.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57200" y="404164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931920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event spikes as signal, not garbage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Elections, sports, celebrity deaths are predictable in kind. Better than deletion: event/holiday regressors in SARIMAX or Prophet.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41080" y="48006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analysis: web_traffic_forecasting.ipynb  (GitHub repository)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exploration → decomposition → SARIMA/Prophet → 4-method anomaly detection → re-forecast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Kaggle Web Traffic Time Series Forecasting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Traffic Time Series: Forecasting &amp; Anomaly Detection</dc:title>
  <dc:subject>PptxGenJS Presentation</dc:subject>
  <dc:creator>PptxGenJS</dc:creator>
  <cp:lastModifiedBy>PptxGenJS</cp:lastModifiedBy>
  <cp:revision>1</cp:revision>
  <dcterms:created xsi:type="dcterms:W3CDTF">2026-07-02T14:40:29Z</dcterms:created>
  <dcterms:modified xsi:type="dcterms:W3CDTF">2026-07-02T14:40:29Z</dcterms:modified>
</cp:coreProperties>
</file>